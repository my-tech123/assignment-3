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138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3787" y="2681031"/>
            <a:ext cx="7772400" cy="1470025"/>
          </a:xfrm>
        </p:spPr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Industrial Assignments on Machine Learning Applications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7819" y="274638"/>
            <a:ext cx="9016181" cy="1143000"/>
          </a:xfrm>
        </p:spPr>
        <p:txBody>
          <a:bodyPr>
            <a:normAutofit/>
          </a:bodyPr>
          <a:lstStyle/>
          <a:p>
            <a:r>
              <a:rPr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Assignment 1: Predictive Analytics for Business Forecasting Using Regression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6645" y="1600200"/>
            <a:ext cx="8809703" cy="4525963"/>
          </a:xfrm>
        </p:spPr>
        <p:txBody>
          <a:bodyPr wrap="square">
            <a:normAutofit fontScale="47500" lnSpcReduction="20000"/>
          </a:bodyPr>
          <a:lstStyle/>
          <a:p>
            <a:r>
              <a:rPr b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🎯 Objective:</a:t>
            </a:r>
          </a:p>
          <a:p>
            <a:r>
              <a:rPr dirty="0">
                <a:latin typeface="Verdana" panose="020B0604030504040204" pitchFamily="34" charset="0"/>
                <a:ea typeface="Verdana" panose="020B0604030504040204" pitchFamily="34" charset="0"/>
              </a:rPr>
              <a:t>Apply regression models (Linear, Ridge, Lasso, Bayesian) for predictive analysis on real datasets.</a:t>
            </a:r>
          </a:p>
          <a:p>
            <a:endParaRPr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endParaRPr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>
              <a:spcBef>
                <a:spcPts val="1000"/>
              </a:spcBef>
            </a:pPr>
            <a:r>
              <a:rPr b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🏭 Industrial Relevance:</a:t>
            </a:r>
            <a:r>
              <a:rPr dirty="0">
                <a:latin typeface="Verdana" panose="020B0604030504040204" pitchFamily="34" charset="0"/>
                <a:ea typeface="Verdana" panose="020B0604030504040204" pitchFamily="34" charset="0"/>
              </a:rPr>
              <a:t/>
            </a:r>
            <a:br>
              <a:rPr dirty="0"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dirty="0">
                <a:latin typeface="Verdana" panose="020B0604030504040204" pitchFamily="34" charset="0"/>
                <a:ea typeface="Verdana" panose="020B0604030504040204" pitchFamily="34" charset="0"/>
              </a:rPr>
              <a:t>Used in finance, retail, and energy sectors for demand forecasting, stock prediction, and pricing optimization.</a:t>
            </a:r>
            <a:br>
              <a:rPr dirty="0">
                <a:latin typeface="Verdana" panose="020B0604030504040204" pitchFamily="34" charset="0"/>
                <a:ea typeface="Verdana" panose="020B0604030504040204" pitchFamily="34" charset="0"/>
              </a:rPr>
            </a:br>
            <a:endParaRPr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>
              <a:spcBef>
                <a:spcPts val="1000"/>
              </a:spcBef>
            </a:pPr>
            <a:r>
              <a:rPr b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🧩 Task Description:</a:t>
            </a:r>
            <a:r>
              <a:rPr dirty="0">
                <a:latin typeface="Verdana" panose="020B0604030504040204" pitchFamily="34" charset="0"/>
                <a:ea typeface="Verdana" panose="020B0604030504040204" pitchFamily="34" charset="0"/>
              </a:rPr>
              <a:t/>
            </a:r>
            <a:br>
              <a:rPr dirty="0"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dirty="0">
                <a:latin typeface="Verdana" panose="020B0604030504040204" pitchFamily="34" charset="0"/>
                <a:ea typeface="Verdana" panose="020B0604030504040204" pitchFamily="34" charset="0"/>
              </a:rPr>
              <a:t>1. Collect a real dataset (sales, temperature, energy usage).</a:t>
            </a:r>
            <a:br>
              <a:rPr dirty="0"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dirty="0">
                <a:latin typeface="Verdana" panose="020B0604030504040204" pitchFamily="34" charset="0"/>
                <a:ea typeface="Verdana" panose="020B0604030504040204" pitchFamily="34" charset="0"/>
              </a:rPr>
              <a:t>2. Apply Linear, Ridge, Lasso, Bayesian Regression.</a:t>
            </a:r>
            <a:br>
              <a:rPr dirty="0"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dirty="0">
                <a:latin typeface="Verdana" panose="020B0604030504040204" pitchFamily="34" charset="0"/>
                <a:ea typeface="Verdana" panose="020B0604030504040204" pitchFamily="34" charset="0"/>
              </a:rPr>
              <a:t>3. Evaluate using R², RMSE, MAE.</a:t>
            </a:r>
            <a:br>
              <a:rPr dirty="0"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dirty="0">
                <a:latin typeface="Verdana" panose="020B0604030504040204" pitchFamily="34" charset="0"/>
                <a:ea typeface="Verdana" panose="020B0604030504040204" pitchFamily="34" charset="0"/>
              </a:rPr>
              <a:t>4. Visualize and interpret model coefficients.</a:t>
            </a:r>
            <a:br>
              <a:rPr dirty="0">
                <a:latin typeface="Verdana" panose="020B0604030504040204" pitchFamily="34" charset="0"/>
                <a:ea typeface="Verdana" panose="020B0604030504040204" pitchFamily="34" charset="0"/>
              </a:rPr>
            </a:br>
            <a:endParaRPr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>
              <a:spcBef>
                <a:spcPts val="1000"/>
              </a:spcBef>
            </a:pPr>
            <a:r>
              <a:rPr b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📈 Expected Outcomes:</a:t>
            </a:r>
            <a:r>
              <a:rPr dirty="0">
                <a:latin typeface="Verdana" panose="020B0604030504040204" pitchFamily="34" charset="0"/>
                <a:ea typeface="Verdana" panose="020B0604030504040204" pitchFamily="34" charset="0"/>
              </a:rPr>
              <a:t/>
            </a:r>
            <a:br>
              <a:rPr dirty="0"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dirty="0">
                <a:latin typeface="Verdana" panose="020B0604030504040204" pitchFamily="34" charset="0"/>
                <a:ea typeface="Verdana" panose="020B0604030504040204" pitchFamily="34" charset="0"/>
              </a:rPr>
              <a:t>Understand regularization, evaluate model performance, and interpret regression models for prediction.</a:t>
            </a:r>
            <a:br>
              <a:rPr dirty="0">
                <a:latin typeface="Verdana" panose="020B0604030504040204" pitchFamily="34" charset="0"/>
                <a:ea typeface="Verdana" panose="020B0604030504040204" pitchFamily="34" charset="0"/>
              </a:rPr>
            </a:br>
            <a:endParaRPr lang="en-US" dirty="0" smtClean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Assignment 2: Smart Quality Control Using Classification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 fontScale="47500" lnSpcReduction="20000"/>
          </a:bodyPr>
          <a:lstStyle/>
          <a:p>
            <a:pPr marL="0" indent="0">
              <a:buNone/>
            </a:pPr>
            <a:r>
              <a:rPr b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🎯 Objective:</a:t>
            </a:r>
          </a:p>
          <a:p>
            <a:r>
              <a:rPr dirty="0">
                <a:latin typeface="Verdana" panose="020B0604030504040204" pitchFamily="34" charset="0"/>
                <a:ea typeface="Verdana" panose="020B0604030504040204" pitchFamily="34" charset="0"/>
              </a:rPr>
              <a:t>Develop a classification model to detect defective products in a manufacturing system.</a:t>
            </a:r>
          </a:p>
          <a:p>
            <a:endParaRPr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endParaRPr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indent="0">
              <a:spcBef>
                <a:spcPts val="1000"/>
              </a:spcBef>
              <a:buNone/>
            </a:pPr>
            <a:r>
              <a:rPr b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🏭 Industrial Relevance:</a:t>
            </a:r>
            <a:r>
              <a:rPr dirty="0">
                <a:latin typeface="Verdana" panose="020B0604030504040204" pitchFamily="34" charset="0"/>
                <a:ea typeface="Verdana" panose="020B0604030504040204" pitchFamily="34" charset="0"/>
              </a:rPr>
              <a:t/>
            </a:r>
            <a:br>
              <a:rPr dirty="0"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dirty="0">
                <a:latin typeface="Verdana" panose="020B0604030504040204" pitchFamily="34" charset="0"/>
                <a:ea typeface="Verdana" panose="020B0604030504040204" pitchFamily="34" charset="0"/>
              </a:rPr>
              <a:t>Used in manufacturing, healthcare, and cybersecurity for anomaly detection and quality assurance.</a:t>
            </a:r>
            <a:br>
              <a:rPr dirty="0">
                <a:latin typeface="Verdana" panose="020B0604030504040204" pitchFamily="34" charset="0"/>
                <a:ea typeface="Verdana" panose="020B0604030504040204" pitchFamily="34" charset="0"/>
              </a:rPr>
            </a:br>
            <a:endParaRPr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indent="0">
              <a:spcBef>
                <a:spcPts val="1000"/>
              </a:spcBef>
              <a:buNone/>
            </a:pPr>
            <a:r>
              <a:rPr b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🧩 Task Description:</a:t>
            </a:r>
            <a:r>
              <a:rPr dirty="0">
                <a:latin typeface="Verdana" panose="020B0604030504040204" pitchFamily="34" charset="0"/>
                <a:ea typeface="Verdana" panose="020B0604030504040204" pitchFamily="34" charset="0"/>
              </a:rPr>
              <a:t/>
            </a:r>
            <a:br>
              <a:rPr dirty="0"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dirty="0">
                <a:latin typeface="Verdana" panose="020B0604030504040204" pitchFamily="34" charset="0"/>
                <a:ea typeface="Verdana" panose="020B0604030504040204" pitchFamily="34" charset="0"/>
              </a:rPr>
              <a:t>1. Use sensor or image-based dataset.</a:t>
            </a:r>
            <a:br>
              <a:rPr dirty="0"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dirty="0">
                <a:latin typeface="Verdana" panose="020B0604030504040204" pitchFamily="34" charset="0"/>
                <a:ea typeface="Verdana" panose="020B0604030504040204" pitchFamily="34" charset="0"/>
              </a:rPr>
              <a:t>2. Implement Perceptron, MLP, SVM, Decision Trees.</a:t>
            </a:r>
            <a:br>
              <a:rPr dirty="0"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dirty="0">
                <a:latin typeface="Verdana" panose="020B0604030504040204" pitchFamily="34" charset="0"/>
                <a:ea typeface="Verdana" panose="020B0604030504040204" pitchFamily="34" charset="0"/>
              </a:rPr>
              <a:t>3. Apply Backpropagation.</a:t>
            </a:r>
            <a:br>
              <a:rPr dirty="0"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dirty="0">
                <a:latin typeface="Verdana" panose="020B0604030504040204" pitchFamily="34" charset="0"/>
                <a:ea typeface="Verdana" panose="020B0604030504040204" pitchFamily="34" charset="0"/>
              </a:rPr>
              <a:t>4. Evaluate using F1-score, Confusion Matrix, ROC Curve.</a:t>
            </a:r>
            <a:br>
              <a:rPr dirty="0">
                <a:latin typeface="Verdana" panose="020B0604030504040204" pitchFamily="34" charset="0"/>
                <a:ea typeface="Verdana" panose="020B0604030504040204" pitchFamily="34" charset="0"/>
              </a:rPr>
            </a:br>
            <a:endParaRPr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indent="0">
              <a:spcBef>
                <a:spcPts val="1000"/>
              </a:spcBef>
              <a:buNone/>
            </a:pPr>
            <a:r>
              <a:rPr b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📈 Expected Outcomes:</a:t>
            </a:r>
            <a:r>
              <a:rPr dirty="0">
                <a:latin typeface="Verdana" panose="020B0604030504040204" pitchFamily="34" charset="0"/>
                <a:ea typeface="Verdana" panose="020B0604030504040204" pitchFamily="34" charset="0"/>
              </a:rPr>
              <a:t/>
            </a:r>
            <a:br>
              <a:rPr dirty="0"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dirty="0">
                <a:latin typeface="Verdana" panose="020B0604030504040204" pitchFamily="34" charset="0"/>
                <a:ea typeface="Verdana" panose="020B0604030504040204" pitchFamily="34" charset="0"/>
              </a:rPr>
              <a:t>Hands-on experience in neural and tree-based classifiers, bias-variance analysis, and evaluation metrics.</a:t>
            </a:r>
            <a:br>
              <a:rPr dirty="0">
                <a:latin typeface="Verdana" panose="020B0604030504040204" pitchFamily="34" charset="0"/>
                <a:ea typeface="Verdana" panose="020B0604030504040204" pitchFamily="34" charset="0"/>
              </a:rPr>
            </a:br>
            <a:endParaRPr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Assignment 3: Market Segmentation Using Clustering and PCA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 fontScale="47500" lnSpcReduction="20000"/>
          </a:bodyPr>
          <a:lstStyle/>
          <a:p>
            <a:r>
              <a:rPr b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🎯 Objective:</a:t>
            </a:r>
          </a:p>
          <a:p>
            <a:r>
              <a:rPr dirty="0">
                <a:latin typeface="Verdana" panose="020B0604030504040204" pitchFamily="34" charset="0"/>
                <a:ea typeface="Verdana" panose="020B0604030504040204" pitchFamily="34" charset="0"/>
              </a:rPr>
              <a:t>Use clustering and PCA for customer segmentation and visualization.</a:t>
            </a:r>
          </a:p>
          <a:p>
            <a:endParaRPr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endParaRPr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>
              <a:spcBef>
                <a:spcPts val="1000"/>
              </a:spcBef>
            </a:pPr>
            <a:r>
              <a:rPr b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🏭 Industrial Relevance:</a:t>
            </a:r>
            <a:r>
              <a:rPr dirty="0">
                <a:latin typeface="Verdana" panose="020B0604030504040204" pitchFamily="34" charset="0"/>
                <a:ea typeface="Verdana" panose="020B0604030504040204" pitchFamily="34" charset="0"/>
              </a:rPr>
              <a:t/>
            </a:r>
            <a:br>
              <a:rPr dirty="0"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dirty="0">
                <a:latin typeface="Verdana" panose="020B0604030504040204" pitchFamily="34" charset="0"/>
                <a:ea typeface="Verdana" panose="020B0604030504040204" pitchFamily="34" charset="0"/>
              </a:rPr>
              <a:t>Applied in marketing and retail analytics to understand consumer behavior and personalization.</a:t>
            </a:r>
            <a:br>
              <a:rPr dirty="0">
                <a:latin typeface="Verdana" panose="020B0604030504040204" pitchFamily="34" charset="0"/>
                <a:ea typeface="Verdana" panose="020B0604030504040204" pitchFamily="34" charset="0"/>
              </a:rPr>
            </a:br>
            <a:endParaRPr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>
              <a:spcBef>
                <a:spcPts val="1000"/>
              </a:spcBef>
            </a:pPr>
            <a:r>
              <a:rPr b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🧩 Task Description:</a:t>
            </a:r>
            <a:r>
              <a:rPr dirty="0">
                <a:latin typeface="Verdana" panose="020B0604030504040204" pitchFamily="34" charset="0"/>
                <a:ea typeface="Verdana" panose="020B0604030504040204" pitchFamily="34" charset="0"/>
              </a:rPr>
              <a:t/>
            </a:r>
            <a:br>
              <a:rPr dirty="0"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dirty="0">
                <a:latin typeface="Verdana" panose="020B0604030504040204" pitchFamily="34" charset="0"/>
                <a:ea typeface="Verdana" panose="020B0604030504040204" pitchFamily="34" charset="0"/>
              </a:rPr>
              <a:t>1. Use datasets like Mall Customers or E-commerce data.</a:t>
            </a:r>
            <a:br>
              <a:rPr dirty="0"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dirty="0">
                <a:latin typeface="Verdana" panose="020B0604030504040204" pitchFamily="34" charset="0"/>
                <a:ea typeface="Verdana" panose="020B0604030504040204" pitchFamily="34" charset="0"/>
              </a:rPr>
              <a:t>2. Apply K-Means, Hierarchical, DBSCAN.</a:t>
            </a:r>
            <a:br>
              <a:rPr dirty="0"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dirty="0">
                <a:latin typeface="Verdana" panose="020B0604030504040204" pitchFamily="34" charset="0"/>
                <a:ea typeface="Verdana" panose="020B0604030504040204" pitchFamily="34" charset="0"/>
              </a:rPr>
              <a:t>3. Evaluate cluster quality using Silhouette Score.</a:t>
            </a:r>
            <a:br>
              <a:rPr dirty="0"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dirty="0">
                <a:latin typeface="Verdana" panose="020B0604030504040204" pitchFamily="34" charset="0"/>
                <a:ea typeface="Verdana" panose="020B0604030504040204" pitchFamily="34" charset="0"/>
              </a:rPr>
              <a:t>4. Use PCA for 2D visualization.</a:t>
            </a:r>
            <a:br>
              <a:rPr dirty="0">
                <a:latin typeface="Verdana" panose="020B0604030504040204" pitchFamily="34" charset="0"/>
                <a:ea typeface="Verdana" panose="020B0604030504040204" pitchFamily="34" charset="0"/>
              </a:rPr>
            </a:br>
            <a:endParaRPr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>
              <a:spcBef>
                <a:spcPts val="1000"/>
              </a:spcBef>
            </a:pPr>
            <a:r>
              <a:rPr b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📈 Expected Outcomes:</a:t>
            </a:r>
            <a:r>
              <a:rPr dirty="0">
                <a:latin typeface="Verdana" panose="020B0604030504040204" pitchFamily="34" charset="0"/>
                <a:ea typeface="Verdana" panose="020B0604030504040204" pitchFamily="34" charset="0"/>
              </a:rPr>
              <a:t/>
            </a:r>
            <a:br>
              <a:rPr dirty="0"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dirty="0">
                <a:latin typeface="Verdana" panose="020B0604030504040204" pitchFamily="34" charset="0"/>
                <a:ea typeface="Verdana" panose="020B0604030504040204" pitchFamily="34" charset="0"/>
              </a:rPr>
              <a:t>Learn unsupervised learning, visualize clusters, and interpret market segmentation results.</a:t>
            </a:r>
            <a:br>
              <a:rPr dirty="0">
                <a:latin typeface="Verdana" panose="020B0604030504040204" pitchFamily="34" charset="0"/>
                <a:ea typeface="Verdana" panose="020B0604030504040204" pitchFamily="34" charset="0"/>
              </a:rPr>
            </a:br>
            <a:endParaRPr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Assignment 4: Ensemble Learning for Fraud or Risk Prediction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 fontScale="47500" lnSpcReduction="20000"/>
          </a:bodyPr>
          <a:lstStyle/>
          <a:p>
            <a:r>
              <a:rPr b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🎯 Objective:</a:t>
            </a:r>
          </a:p>
          <a:p>
            <a:r>
              <a:rPr dirty="0">
                <a:latin typeface="Verdana" panose="020B0604030504040204" pitchFamily="34" charset="0"/>
                <a:ea typeface="Verdana" panose="020B0604030504040204" pitchFamily="34" charset="0"/>
              </a:rPr>
              <a:t>Design ensemble models using Bagging, Boosting, and Stacking techniques for imbalanced data.</a:t>
            </a:r>
          </a:p>
          <a:p>
            <a:endParaRPr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endParaRPr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>
              <a:spcBef>
                <a:spcPts val="1000"/>
              </a:spcBef>
            </a:pPr>
            <a:r>
              <a:rPr b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🏭 Industrial Relevance:</a:t>
            </a:r>
            <a:r>
              <a:rPr dirty="0">
                <a:latin typeface="Verdana" panose="020B0604030504040204" pitchFamily="34" charset="0"/>
                <a:ea typeface="Verdana" panose="020B0604030504040204" pitchFamily="34" charset="0"/>
              </a:rPr>
              <a:t/>
            </a:r>
            <a:br>
              <a:rPr dirty="0"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dirty="0">
                <a:latin typeface="Verdana" panose="020B0604030504040204" pitchFamily="34" charset="0"/>
                <a:ea typeface="Verdana" panose="020B0604030504040204" pitchFamily="34" charset="0"/>
              </a:rPr>
              <a:t>Used in finance, insurance, and cybersecurity for fraud detection and risk assessment.</a:t>
            </a:r>
            <a:br>
              <a:rPr dirty="0">
                <a:latin typeface="Verdana" panose="020B0604030504040204" pitchFamily="34" charset="0"/>
                <a:ea typeface="Verdana" panose="020B0604030504040204" pitchFamily="34" charset="0"/>
              </a:rPr>
            </a:br>
            <a:endParaRPr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>
              <a:spcBef>
                <a:spcPts val="1000"/>
              </a:spcBef>
            </a:pPr>
            <a:r>
              <a:rPr b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🧩 Task Description:</a:t>
            </a:r>
            <a:r>
              <a:rPr dirty="0">
                <a:latin typeface="Verdana" panose="020B0604030504040204" pitchFamily="34" charset="0"/>
                <a:ea typeface="Verdana" panose="020B0604030504040204" pitchFamily="34" charset="0"/>
              </a:rPr>
              <a:t/>
            </a:r>
            <a:br>
              <a:rPr dirty="0"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dirty="0">
                <a:latin typeface="Verdana" panose="020B0604030504040204" pitchFamily="34" charset="0"/>
                <a:ea typeface="Verdana" panose="020B0604030504040204" pitchFamily="34" charset="0"/>
              </a:rPr>
              <a:t>1. Select an imbalanced dataset (credit card fraud, loan default).</a:t>
            </a:r>
            <a:br>
              <a:rPr dirty="0"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dirty="0">
                <a:latin typeface="Verdana" panose="020B0604030504040204" pitchFamily="34" charset="0"/>
                <a:ea typeface="Verdana" panose="020B0604030504040204" pitchFamily="34" charset="0"/>
              </a:rPr>
              <a:t>2. Apply Random Forest, </a:t>
            </a:r>
            <a:r>
              <a:rPr dirty="0" err="1">
                <a:latin typeface="Verdana" panose="020B0604030504040204" pitchFamily="34" charset="0"/>
                <a:ea typeface="Verdana" panose="020B0604030504040204" pitchFamily="34" charset="0"/>
              </a:rPr>
              <a:t>AdaBoost</a:t>
            </a:r>
            <a:r>
              <a:rPr dirty="0">
                <a:latin typeface="Verdana" panose="020B0604030504040204" pitchFamily="34" charset="0"/>
                <a:ea typeface="Verdana" panose="020B0604030504040204" pitchFamily="34" charset="0"/>
              </a:rPr>
              <a:t>, Gradient Boosting, </a:t>
            </a:r>
            <a:r>
              <a:rPr dirty="0" err="1">
                <a:latin typeface="Verdana" panose="020B0604030504040204" pitchFamily="34" charset="0"/>
                <a:ea typeface="Verdana" panose="020B0604030504040204" pitchFamily="34" charset="0"/>
              </a:rPr>
              <a:t>XGBoost</a:t>
            </a:r>
            <a:r>
              <a:rPr dirty="0"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br>
              <a:rPr dirty="0"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dirty="0">
                <a:latin typeface="Verdana" panose="020B0604030504040204" pitchFamily="34" charset="0"/>
                <a:ea typeface="Verdana" panose="020B0604030504040204" pitchFamily="34" charset="0"/>
              </a:rPr>
              <a:t>3. Handle imbalance using SMOTE.</a:t>
            </a:r>
            <a:br>
              <a:rPr dirty="0"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dirty="0">
                <a:latin typeface="Verdana" panose="020B0604030504040204" pitchFamily="34" charset="0"/>
                <a:ea typeface="Verdana" panose="020B0604030504040204" pitchFamily="34" charset="0"/>
              </a:rPr>
              <a:t>4. Evaluate AUC-ROC and F1-Score.</a:t>
            </a:r>
            <a:br>
              <a:rPr dirty="0">
                <a:latin typeface="Verdana" panose="020B0604030504040204" pitchFamily="34" charset="0"/>
                <a:ea typeface="Verdana" panose="020B0604030504040204" pitchFamily="34" charset="0"/>
              </a:rPr>
            </a:br>
            <a:endParaRPr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>
              <a:spcBef>
                <a:spcPts val="1000"/>
              </a:spcBef>
            </a:pPr>
            <a:r>
              <a:rPr b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📈 Expected Outcomes:</a:t>
            </a:r>
            <a:r>
              <a:rPr dirty="0">
                <a:latin typeface="Verdana" panose="020B0604030504040204" pitchFamily="34" charset="0"/>
                <a:ea typeface="Verdana" panose="020B0604030504040204" pitchFamily="34" charset="0"/>
              </a:rPr>
              <a:t/>
            </a:r>
            <a:br>
              <a:rPr dirty="0"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dirty="0">
                <a:latin typeface="Verdana" panose="020B0604030504040204" pitchFamily="34" charset="0"/>
                <a:ea typeface="Verdana" panose="020B0604030504040204" pitchFamily="34" charset="0"/>
              </a:rPr>
              <a:t>Develop ensemble models, handle imbalanced data, interpret feature importance.</a:t>
            </a:r>
            <a:br>
              <a:rPr dirty="0">
                <a:latin typeface="Verdana" panose="020B0604030504040204" pitchFamily="34" charset="0"/>
                <a:ea typeface="Verdana" panose="020B0604030504040204" pitchFamily="34" charset="0"/>
              </a:rPr>
            </a:br>
            <a:endParaRPr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Assignment 5: Time-Series Forecasting Using Markov Models and Deep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 fontScale="47500" lnSpcReduction="20000"/>
          </a:bodyPr>
          <a:lstStyle/>
          <a:p>
            <a:r>
              <a:rPr b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🎯 Objective:</a:t>
            </a:r>
          </a:p>
          <a:p>
            <a:r>
              <a:rPr dirty="0">
                <a:latin typeface="Verdana" panose="020B0604030504040204" pitchFamily="34" charset="0"/>
                <a:ea typeface="Verdana" panose="020B0604030504040204" pitchFamily="34" charset="0"/>
              </a:rPr>
              <a:t>Predict future trends using Hidden Markov Models and deep learning architectures like LSTM or CNN.</a:t>
            </a:r>
          </a:p>
          <a:p>
            <a:endParaRPr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endParaRPr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>
              <a:spcBef>
                <a:spcPts val="1000"/>
              </a:spcBef>
            </a:pPr>
            <a:r>
              <a:rPr b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🏭 Industrial Relevance:</a:t>
            </a:r>
            <a:r>
              <a:rPr dirty="0">
                <a:latin typeface="Verdana" panose="020B0604030504040204" pitchFamily="34" charset="0"/>
                <a:ea typeface="Verdana" panose="020B0604030504040204" pitchFamily="34" charset="0"/>
              </a:rPr>
              <a:t/>
            </a:r>
            <a:br>
              <a:rPr dirty="0"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dirty="0">
                <a:latin typeface="Verdana" panose="020B0604030504040204" pitchFamily="34" charset="0"/>
                <a:ea typeface="Verdana" panose="020B0604030504040204" pitchFamily="34" charset="0"/>
              </a:rPr>
              <a:t>Used in finance, IoT, and energy sectors for predictive maintenance and forecasting.</a:t>
            </a:r>
            <a:br>
              <a:rPr dirty="0">
                <a:latin typeface="Verdana" panose="020B0604030504040204" pitchFamily="34" charset="0"/>
                <a:ea typeface="Verdana" panose="020B0604030504040204" pitchFamily="34" charset="0"/>
              </a:rPr>
            </a:br>
            <a:endParaRPr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>
              <a:spcBef>
                <a:spcPts val="1000"/>
              </a:spcBef>
            </a:pPr>
            <a:r>
              <a:rPr b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🧩 Task Description:</a:t>
            </a:r>
            <a:r>
              <a:rPr dirty="0">
                <a:latin typeface="Verdana" panose="020B0604030504040204" pitchFamily="34" charset="0"/>
                <a:ea typeface="Verdana" panose="020B0604030504040204" pitchFamily="34" charset="0"/>
              </a:rPr>
              <a:t/>
            </a:r>
            <a:br>
              <a:rPr dirty="0"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dirty="0">
                <a:latin typeface="Verdana" panose="020B0604030504040204" pitchFamily="34" charset="0"/>
                <a:ea typeface="Verdana" panose="020B0604030504040204" pitchFamily="34" charset="0"/>
              </a:rPr>
              <a:t>1. Use a time-series dataset (stock prices, weather, power usage).</a:t>
            </a:r>
            <a:br>
              <a:rPr dirty="0"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dirty="0">
                <a:latin typeface="Verdana" panose="020B0604030504040204" pitchFamily="34" charset="0"/>
                <a:ea typeface="Verdana" panose="020B0604030504040204" pitchFamily="34" charset="0"/>
              </a:rPr>
              <a:t>2. Implement HMM and LSTM models.</a:t>
            </a:r>
            <a:br>
              <a:rPr dirty="0"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dirty="0">
                <a:latin typeface="Verdana" panose="020B0604030504040204" pitchFamily="34" charset="0"/>
                <a:ea typeface="Verdana" panose="020B0604030504040204" pitchFamily="34" charset="0"/>
              </a:rPr>
              <a:t>3. Compare probabilistic vs deep learning methods.</a:t>
            </a:r>
            <a:br>
              <a:rPr dirty="0"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dirty="0">
                <a:latin typeface="Verdana" panose="020B0604030504040204" pitchFamily="34" charset="0"/>
                <a:ea typeface="Verdana" panose="020B0604030504040204" pitchFamily="34" charset="0"/>
              </a:rPr>
              <a:t>4. Evaluate using RMSE and MAPE.</a:t>
            </a:r>
            <a:br>
              <a:rPr dirty="0">
                <a:latin typeface="Verdana" panose="020B0604030504040204" pitchFamily="34" charset="0"/>
                <a:ea typeface="Verdana" panose="020B0604030504040204" pitchFamily="34" charset="0"/>
              </a:rPr>
            </a:br>
            <a:endParaRPr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>
              <a:spcBef>
                <a:spcPts val="1000"/>
              </a:spcBef>
            </a:pPr>
            <a:r>
              <a:rPr b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📈 Expected Outcomes:</a:t>
            </a:r>
            <a:r>
              <a:rPr dirty="0">
                <a:latin typeface="Verdana" panose="020B0604030504040204" pitchFamily="34" charset="0"/>
                <a:ea typeface="Verdana" panose="020B0604030504040204" pitchFamily="34" charset="0"/>
              </a:rPr>
              <a:t/>
            </a:r>
            <a:br>
              <a:rPr dirty="0"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dirty="0">
                <a:latin typeface="Verdana" panose="020B0604030504040204" pitchFamily="34" charset="0"/>
                <a:ea typeface="Verdana" panose="020B0604030504040204" pitchFamily="34" charset="0"/>
              </a:rPr>
              <a:t>Understand sequential modeling, compare approaches, and develop real-time forecasting skills.</a:t>
            </a:r>
            <a:br>
              <a:rPr dirty="0">
                <a:latin typeface="Verdana" panose="020B0604030504040204" pitchFamily="34" charset="0"/>
                <a:ea typeface="Verdana" panose="020B0604030504040204" pitchFamily="34" charset="0"/>
              </a:rPr>
            </a:br>
            <a:endParaRPr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164</Words>
  <Application>Microsoft Office PowerPoint</Application>
  <PresentationFormat>On-screen Show (4:3)</PresentationFormat>
  <Paragraphs>41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Times New Roman</vt:lpstr>
      <vt:lpstr>Verdana</vt:lpstr>
      <vt:lpstr>Office Theme</vt:lpstr>
      <vt:lpstr>Industrial Assignments on Machine Learning Applications</vt:lpstr>
      <vt:lpstr>Assignment 1: Predictive Analytics for Business Forecasting Using Regression Models</vt:lpstr>
      <vt:lpstr>Assignment 2: Smart Quality Control Using Classification Models</vt:lpstr>
      <vt:lpstr>Assignment 3: Market Segmentation Using Clustering and PCA</vt:lpstr>
      <vt:lpstr>Assignment 4: Ensemble Learning for Fraud or Risk Prediction</vt:lpstr>
      <vt:lpstr>Assignment 5: Time-Series Forecasting Using Markov Models and Deep Learning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Industrial Assignments on Machine Learning Applications</dc:title>
  <dc:subject/>
  <dc:creator>Chiranjeevi</dc:creator>
  <cp:keywords/>
  <dc:description>generated using python-pptx</dc:description>
  <cp:lastModifiedBy>Microsoft account</cp:lastModifiedBy>
  <cp:revision>3</cp:revision>
  <dcterms:created xsi:type="dcterms:W3CDTF">2013-01-27T09:14:16Z</dcterms:created>
  <dcterms:modified xsi:type="dcterms:W3CDTF">2025-11-02T16:52:00Z</dcterms:modified>
  <cp:category/>
</cp:coreProperties>
</file>